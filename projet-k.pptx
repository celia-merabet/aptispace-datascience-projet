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137160"/>
            <a:ext cx="384048" cy="384048"/>
          </a:xfrm>
          <a:prstGeom prst="rect">
            <a:avLst/>
          </a:prstGeom>
          <a:solidFill>
            <a:srgbClr val="22263A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630936"/>
            <a:ext cx="384048" cy="384048"/>
          </a:xfrm>
          <a:prstGeom prst="rect">
            <a:avLst/>
          </a:prstGeom>
          <a:solidFill>
            <a:srgbClr val="22263A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1124712"/>
            <a:ext cx="384048" cy="384048"/>
          </a:xfrm>
          <a:prstGeom prst="rect">
            <a:avLst/>
          </a:prstGeom>
          <a:solidFill>
            <a:srgbClr val="22263A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618488"/>
            <a:ext cx="384048" cy="384048"/>
          </a:xfrm>
          <a:prstGeom prst="rect">
            <a:avLst/>
          </a:prstGeom>
          <a:solidFill>
            <a:srgbClr val="22263A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11696" y="137160"/>
            <a:ext cx="384048" cy="384048"/>
          </a:xfrm>
          <a:prstGeom prst="rect">
            <a:avLst/>
          </a:prstGeom>
          <a:solidFill>
            <a:srgbClr val="22263A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11696" y="630936"/>
            <a:ext cx="384048" cy="384048"/>
          </a:xfrm>
          <a:prstGeom prst="rect">
            <a:avLst/>
          </a:prstGeom>
          <a:solidFill>
            <a:srgbClr val="22263A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11696" y="1124712"/>
            <a:ext cx="384048" cy="384048"/>
          </a:xfrm>
          <a:prstGeom prst="rect">
            <a:avLst/>
          </a:prstGeom>
          <a:solidFill>
            <a:srgbClr val="22263A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11696" y="1618488"/>
            <a:ext cx="384048" cy="384048"/>
          </a:xfrm>
          <a:prstGeom prst="rect">
            <a:avLst/>
          </a:prstGeom>
          <a:solidFill>
            <a:srgbClr val="22263A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05472" y="137160"/>
            <a:ext cx="384048" cy="384048"/>
          </a:xfrm>
          <a:prstGeom prst="rect">
            <a:avLst/>
          </a:prstGeom>
          <a:solidFill>
            <a:srgbClr val="22263A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05472" y="630936"/>
            <a:ext cx="384048" cy="384048"/>
          </a:xfrm>
          <a:prstGeom prst="rect">
            <a:avLst/>
          </a:prstGeom>
          <a:solidFill>
            <a:srgbClr val="22263A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05472" y="1124712"/>
            <a:ext cx="384048" cy="384048"/>
          </a:xfrm>
          <a:prstGeom prst="rect">
            <a:avLst/>
          </a:prstGeom>
          <a:solidFill>
            <a:srgbClr val="22263A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05472" y="1618488"/>
            <a:ext cx="384048" cy="384048"/>
          </a:xfrm>
          <a:prstGeom prst="rect">
            <a:avLst/>
          </a:prstGeom>
          <a:solidFill>
            <a:srgbClr val="22263A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99248" y="137160"/>
            <a:ext cx="384048" cy="384048"/>
          </a:xfrm>
          <a:prstGeom prst="rect">
            <a:avLst/>
          </a:prstGeom>
          <a:solidFill>
            <a:srgbClr val="22263A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99248" y="630936"/>
            <a:ext cx="384048" cy="384048"/>
          </a:xfrm>
          <a:prstGeom prst="rect">
            <a:avLst/>
          </a:prstGeom>
          <a:solidFill>
            <a:srgbClr val="22263A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99248" y="1124712"/>
            <a:ext cx="384048" cy="384048"/>
          </a:xfrm>
          <a:prstGeom prst="rect">
            <a:avLst/>
          </a:prstGeom>
          <a:solidFill>
            <a:srgbClr val="22263A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99248" y="1618488"/>
            <a:ext cx="384048" cy="384048"/>
          </a:xfrm>
          <a:prstGeom prst="rect">
            <a:avLst/>
          </a:prstGeom>
          <a:solidFill>
            <a:srgbClr val="22263A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3024" y="137160"/>
            <a:ext cx="384048" cy="384048"/>
          </a:xfrm>
          <a:prstGeom prst="rect">
            <a:avLst/>
          </a:prstGeom>
          <a:solidFill>
            <a:srgbClr val="22263A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93024" y="630936"/>
            <a:ext cx="384048" cy="384048"/>
          </a:xfrm>
          <a:prstGeom prst="rect">
            <a:avLst/>
          </a:prstGeom>
          <a:solidFill>
            <a:srgbClr val="22263A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93024" y="1124712"/>
            <a:ext cx="384048" cy="384048"/>
          </a:xfrm>
          <a:prstGeom prst="rect">
            <a:avLst/>
          </a:prstGeom>
          <a:solidFill>
            <a:srgbClr val="22263A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93024" y="1618488"/>
            <a:ext cx="384048" cy="384048"/>
          </a:xfrm>
          <a:prstGeom prst="rect">
            <a:avLst/>
          </a:prstGeom>
          <a:solidFill>
            <a:srgbClr val="22263A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137160"/>
            <a:ext cx="384048" cy="384048"/>
          </a:xfrm>
          <a:prstGeom prst="rect">
            <a:avLst/>
          </a:prstGeom>
          <a:solidFill>
            <a:srgbClr val="22263A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0" y="630936"/>
            <a:ext cx="384048" cy="384048"/>
          </a:xfrm>
          <a:prstGeom prst="rect">
            <a:avLst/>
          </a:prstGeom>
          <a:solidFill>
            <a:srgbClr val="22263A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0" y="1124712"/>
            <a:ext cx="384048" cy="384048"/>
          </a:xfrm>
          <a:prstGeom prst="rect">
            <a:avLst/>
          </a:prstGeom>
          <a:solidFill>
            <a:srgbClr val="22263A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0" y="1618488"/>
            <a:ext cx="384048" cy="384048"/>
          </a:xfrm>
          <a:prstGeom prst="rect">
            <a:avLst/>
          </a:prstGeom>
          <a:solidFill>
            <a:srgbClr val="22263A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630936"/>
            <a:ext cx="384048" cy="384048"/>
          </a:xfrm>
          <a:prstGeom prst="rect">
            <a:avLst/>
          </a:prstGeom>
          <a:solidFill>
            <a:srgbClr val="00897B"/>
          </a:solidFill>
          <a:ln w="6350">
            <a:solidFill>
              <a:srgbClr val="00BF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05472" y="137160"/>
            <a:ext cx="384048" cy="384048"/>
          </a:xfrm>
          <a:prstGeom prst="rect">
            <a:avLst/>
          </a:prstGeom>
          <a:solidFill>
            <a:srgbClr val="00897B"/>
          </a:solidFill>
          <a:ln w="6350">
            <a:solidFill>
              <a:srgbClr val="00BF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93024" y="1124712"/>
            <a:ext cx="384048" cy="384048"/>
          </a:xfrm>
          <a:prstGeom prst="rect">
            <a:avLst/>
          </a:prstGeom>
          <a:solidFill>
            <a:srgbClr val="00897B"/>
          </a:solidFill>
          <a:ln w="6350">
            <a:solidFill>
              <a:srgbClr val="00BF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11696" y="1618488"/>
            <a:ext cx="384048" cy="384048"/>
          </a:xfrm>
          <a:prstGeom prst="rect">
            <a:avLst/>
          </a:prstGeom>
          <a:solidFill>
            <a:srgbClr val="00897B"/>
          </a:solidFill>
          <a:ln w="6350">
            <a:solidFill>
              <a:srgbClr val="00BF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99248" y="630936"/>
            <a:ext cx="384048" cy="384048"/>
          </a:xfrm>
          <a:prstGeom prst="rect">
            <a:avLst/>
          </a:prstGeom>
          <a:solidFill>
            <a:srgbClr val="00897B"/>
          </a:solidFill>
          <a:ln w="6350">
            <a:solidFill>
              <a:srgbClr val="00BF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502920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22263A"/>
          </a:solidFill>
          <a:ln w="10160">
            <a:solidFill>
              <a:srgbClr val="00BF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502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0BFA6"/>
                </a:solidFill>
              </a:rPr>
              <a:t>Projet Data Science · 2026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2920" y="10058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Estate</a:t>
            </a:r>
            <a:endParaRPr lang="en-US" sz="5200" dirty="0"/>
          </a:p>
        </p:txBody>
      </p:sp>
      <p:sp>
        <p:nvSpPr>
          <p:cNvPr id="34" name="Text 32"/>
          <p:cNvSpPr/>
          <p:nvPr/>
        </p:nvSpPr>
        <p:spPr>
          <a:xfrm>
            <a:off x="502920" y="17373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B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Predictor.</a:t>
            </a:r>
            <a:endParaRPr lang="en-US" sz="5200" dirty="0"/>
          </a:p>
        </p:txBody>
      </p:sp>
      <p:sp>
        <p:nvSpPr>
          <p:cNvPr id="35" name="Text 33"/>
          <p:cNvSpPr/>
          <p:nvPr/>
        </p:nvSpPr>
        <p:spPr>
          <a:xfrm>
            <a:off x="502920" y="26974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B0"/>
                </a:solidFill>
              </a:rPr>
              <a:t>Pipeline ML end-to-end · de la donnée brute au modèle en production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2920" y="3200400"/>
            <a:ext cx="5029200" cy="0"/>
          </a:xfrm>
          <a:prstGeom prst="line">
            <a:avLst/>
          </a:prstGeom>
          <a:noFill/>
          <a:ln w="10160">
            <a:solidFill>
              <a:srgbClr val="2A2E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3375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1 460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502920" y="37490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lignes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874520" y="33375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1874520" y="37490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features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46120" y="33375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3246120" y="37490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étapes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17720" y="33375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4617720" y="37490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</a:rPr>
              <a:t>modèles ML/DL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58000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B0"/>
                </a:solidFill>
              </a:rPr>
              <a:t>Karim Rakem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4572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914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5156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1691640"/>
            <a:ext cx="1371600" cy="246888"/>
          </a:xfrm>
          <a:prstGeom prst="roundRect">
            <a:avLst>
              <a:gd name="adj" fmla="val 25926"/>
            </a:avLst>
          </a:prstGeom>
          <a:solidFill>
            <a:srgbClr val="0D2B28"/>
          </a:solidFill>
          <a:ln w="10160">
            <a:solidFill>
              <a:srgbClr val="00BF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1691640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FA6"/>
                </a:solidFill>
              </a:rPr>
              <a:t>Data Ingestion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37160" y="2057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Acquisition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Intégration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7160" y="306324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i="1" dirty="0">
                <a:solidFill>
                  <a:srgbClr val="8892B0"/>
                </a:solidFill>
              </a:rPr>
              <a:t>Le point de départ — si les données sont bancales, tout le reste l'est aussi.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08960" y="274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08960" y="274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46120" y="384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246120" y="621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Dataset principal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46120" y="987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46120" y="1078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train.csv — 1 460 observations × 81 features. Prix de vente, surface, quartier, qualité de construction, garage, sous-sol, année.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80760" y="274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80760" y="274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0" y="384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217920" y="621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Enrichissement métier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17920" y="987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0" y="1078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Table categories_info : classification des quartiers en Standard / Premium / Luxury avec un coefficient multiplicateur (NoRidge → ×1.5).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108960" y="2560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108960" y="2560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46120" y="2670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246120" y="2907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Fusion multi-sources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246120" y="3273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46120" y="3364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Left join sur Neighborhood. On passe de 81 à 83 colonnes — toutes les maisons sont conservées, aucune perte.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080760" y="2560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080760" y="2560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0" y="2670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04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217920" y="2907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Robustesse pipeline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17920" y="3273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17920" y="3364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Valeurs manquantes post-fusion imputées proprement : zone → "Unknown", coeff → 1.0. Sauvegarde dans data/processed/.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4572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914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5156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1691640"/>
            <a:ext cx="1371600" cy="246888"/>
          </a:xfrm>
          <a:prstGeom prst="roundRect">
            <a:avLst>
              <a:gd name="adj" fmla="val 25926"/>
            </a:avLst>
          </a:prstGeom>
          <a:solidFill>
            <a:srgbClr val="0D2B28"/>
          </a:solidFill>
          <a:ln w="10160">
            <a:solidFill>
              <a:srgbClr val="00BF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1691640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FA6"/>
                </a:solidFill>
              </a:rPr>
              <a:t>Data Wrangling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37160" y="2057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Nettoyage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Feature Eng.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7160" y="306324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i="1" dirty="0">
                <a:solidFill>
                  <a:srgbClr val="8892B0"/>
                </a:solidFill>
              </a:rPr>
              <a:t>La partie ingrate — mais c'est là que se gagne ou se perd 80% de la qualité du modèle.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08960" y="274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08960" y="274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46120" y="384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246120" y="621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Valeurs manquantes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46120" y="987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46120" y="1078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Stratégie différenciée : médiane pour les numériques, "Unknown" pour les catégorielles. Colonnes critiques traitées manuellement : LotFrontage, GarageCars, GarageArea, TotalBsmtSF.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80760" y="274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80760" y="274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0" y="384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217920" y="621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Gestion des outliers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17920" y="987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0" y="1078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Clipping SalePrice entre P1 et P99 — on garde la variance utile, on élimine les valeurs qui feraient dérailler la régression.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108960" y="2560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108960" y="2560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46120" y="2670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246120" y="2907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HouseAge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246120" y="3273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46120" y="3364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Feature créée à la main : ancienneté du bien depuis l'année de construction. Beaucoup plus parlante que YearBuilt brut.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080760" y="2560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080760" y="2560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0" y="2670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04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217920" y="2907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LogArea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17920" y="3273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17920" y="3364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Distribution de surface très asymétrique → transformation log. Le modèle s'y retrouve nettement mieux.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4572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914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5156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1691640"/>
            <a:ext cx="1371600" cy="246888"/>
          </a:xfrm>
          <a:prstGeom prst="roundRect">
            <a:avLst>
              <a:gd name="adj" fmla="val 25926"/>
            </a:avLst>
          </a:prstGeom>
          <a:solidFill>
            <a:srgbClr val="0D2B28"/>
          </a:solidFill>
          <a:ln w="10160">
            <a:solidFill>
              <a:srgbClr val="00BF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1691640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FA6"/>
                </a:solidFill>
              </a:rPr>
              <a:t>Visualisation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37160" y="2057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Visualisation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Multidimensionnelle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7160" y="306324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i="1" dirty="0">
                <a:solidFill>
                  <a:srgbClr val="8892B0"/>
                </a:solidFill>
              </a:rPr>
              <a:t>Avant de modéliser, regarder. Une heure de visualisation, c'est une semaine de debug économisée.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08960" y="274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08960" y="274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46120" y="384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246120" y="621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Tendances temporelles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46120" y="987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46120" y="1078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Évolution des prix par catégorie de quartier — saisonnalités et comportements récurrents identifiés dès cette étape.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80760" y="274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80760" y="274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0" y="384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217920" y="621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Matrice de corrélation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17920" y="987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0" y="1078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Heatmap Pearson complète. Surface habitable et qualité générale ressortent clairement comme variables pivots.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108960" y="2560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108960" y="2560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46120" y="2670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246120" y="2907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Analyse bivariée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246120" y="3273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46120" y="3364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Scatter plots hour × value × dayofweek — patterns hebdomadaires nets, utiles pour le feature engineering temporel.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080760" y="2560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080760" y="2560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0" y="2670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04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217920" y="2907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Charte graphique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17920" y="3273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17920" y="3364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Style visuel unifié sur tout le projet via uv.set_custom_style() — les graphiques sont lisibles et présentables.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4572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914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7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5156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1691640"/>
            <a:ext cx="1371600" cy="246888"/>
          </a:xfrm>
          <a:prstGeom prst="roundRect">
            <a:avLst>
              <a:gd name="adj" fmla="val 25926"/>
            </a:avLst>
          </a:prstGeom>
          <a:solidFill>
            <a:srgbClr val="0D2B28"/>
          </a:solidFill>
          <a:ln w="10160">
            <a:solidFill>
              <a:srgbClr val="00BF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1691640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FA6"/>
                </a:solidFill>
              </a:rPr>
              <a:t>EDA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37160" y="2057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Exploratoire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7160" y="306324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i="1" dirty="0">
                <a:solidFill>
                  <a:srgbClr val="8892B0"/>
                </a:solidFill>
              </a:rPr>
              <a:t>Comprendre ses données, c'est pas optionnel — c'est la base de toute décision de modélisation.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08960" y="274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08960" y="274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46120" y="384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246120" y="621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Statistiques descriptives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46120" y="987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46120" y="1078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df.describe() complet. Distribution, dispersion, valeurs extrêmes — un état des lieux chiffré avant toute hypothèse.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80760" y="274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80760" y="274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0" y="384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217920" y="621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Feature engineering temporel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17920" y="987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0" y="1078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Extraction de hour et dayofweek via dc.feature_engineering(). Comportements intra-journaliers exploitables détectés.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108960" y="2560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108960" y="2560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46120" y="2670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246120" y="2907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Corrélations Pearson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246120" y="3273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46120" y="3364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Matrice corr() pour identifier les variables candidates au modèle — et celles à écarter ou à combiner.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080760" y="2560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080760" y="2560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0" y="2670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04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217920" y="2907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Insights clés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17920" y="3273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17920" y="3364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Variables fortement corrélées à SalePrice : GrLivArea, OverallQual, GarageCars. Points de départ évidents pour le RF.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4572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914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7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5156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1691640"/>
            <a:ext cx="1371600" cy="246888"/>
          </a:xfrm>
          <a:prstGeom prst="roundRect">
            <a:avLst>
              <a:gd name="adj" fmla="val 25926"/>
            </a:avLst>
          </a:prstGeom>
          <a:solidFill>
            <a:srgbClr val="0D2B28"/>
          </a:solidFill>
          <a:ln w="10160">
            <a:solidFill>
              <a:srgbClr val="00BF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1691640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FA6"/>
                </a:solidFill>
              </a:rPr>
              <a:t>Modélisation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37160" y="2057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&amp;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7160" y="306324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i="1" dirty="0">
                <a:solidFill>
                  <a:srgbClr val="8892B0"/>
                </a:solidFill>
              </a:rPr>
              <a:t>Deux approches, deux familles de problèmes — comparer les paradigmes, c'est apprendre à choisir.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08960" y="274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08960" y="274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46120" y="384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246120" y="621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Random Forest Regressor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46120" y="987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46120" y="1078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Features : hour + dayofweek → target : value. Découpage chronologique strict pour ne pas leaker d'infos du futur dans le train.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80760" y="274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80760" y="274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0" y="384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217920" y="621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CNN TensorFlow / Keras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17920" y="987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0" y="1078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Dataset d'images synthétiques (cercles vs rectangles). Architecture Conv2D → MaxPooling2D → Flatten → Dense.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108960" y="2560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108960" y="2560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46120" y="2670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246120" y="2907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Config d'entraînement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246120" y="3273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46120" y="3364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Optimiseur Adam, binary_crossentropy, batch généré programmatiquement. Setup propre et reproductible.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080760" y="2560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080760" y="2560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0" y="2670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04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217920" y="2907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Ce qu'on apprend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17920" y="3273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17920" y="3364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Le RF performe bien sur les features tabulaires structurées. Le CNN valide le pipeline DL — extensible à des cas réels.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4572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914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7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5156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1691640"/>
            <a:ext cx="1371600" cy="246888"/>
          </a:xfrm>
          <a:prstGeom prst="roundRect">
            <a:avLst>
              <a:gd name="adj" fmla="val 25926"/>
            </a:avLst>
          </a:prstGeom>
          <a:solidFill>
            <a:srgbClr val="0D2B28"/>
          </a:solidFill>
          <a:ln w="10160">
            <a:solidFill>
              <a:srgbClr val="00BF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1691640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FA6"/>
                </a:solidFill>
              </a:rPr>
              <a:t>Évaluation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37160" y="2057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Évaluation &amp;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Robustesse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7160" y="306324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i="1" dirty="0">
                <a:solidFill>
                  <a:srgbClr val="8892B0"/>
                </a:solidFill>
              </a:rPr>
              <a:t>Un modèle sans évaluation sérieuse, c'est une boîte noire qu'on ne peut pas défendre.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08960" y="274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08960" y="274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46120" y="384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246120" y="621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MAE — Mean Absolute Error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46120" y="987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46120" y="1078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L'erreur absolue moyenne : combien le modèle se trompe en moyenne. Métrique intuitive pour les décideurs non-tech.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80760" y="274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80760" y="274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0" y="384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217920" y="621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RMSE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17920" y="987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0" y="1078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Pénalise les grosses erreurs plus fort que le MAE. Si le RMSE &gt;&gt; MAE, il y a des cas pathologiques à investiguer.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108960" y="2560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108960" y="2560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46120" y="2670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246120" y="2907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R² — coefficient de détermination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246120" y="3273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46120" y="3364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Part de variance expliquée. Plus proche de 1 = modèle qui capture vraiment la structure des données.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080760" y="2560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080760" y="2560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0" y="2670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04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217920" y="2907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Validation chronologique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17920" y="3273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17920" y="3364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TimeSeriesSplit — on ne regarde jamais le futur pour évaluer le présent. Résultats honnêtes et généralisables.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4572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914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7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5156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1691640"/>
            <a:ext cx="1371600" cy="246888"/>
          </a:xfrm>
          <a:prstGeom prst="roundRect">
            <a:avLst>
              <a:gd name="adj" fmla="val 25926"/>
            </a:avLst>
          </a:prstGeom>
          <a:solidFill>
            <a:srgbClr val="0D2B28"/>
          </a:solidFill>
          <a:ln w="10160">
            <a:solidFill>
              <a:srgbClr val="00BF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1691640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FA6"/>
                </a:solidFill>
              </a:rPr>
              <a:t>Storytelling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37160" y="2057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Storytelling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Delivery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7160" y="306324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i="1" dirty="0">
                <a:solidFill>
                  <a:srgbClr val="8892B0"/>
                </a:solidFill>
              </a:rPr>
              <a:t>Les résultats qui restent dans un notebook ne valent rien — il faut savoir les raconter.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08960" y="274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08960" y="274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46120" y="384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246120" y="621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Synthèse décisionnelle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46120" y="987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46120" y="1078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Tendances, corrélations et anomalies traduites en impacts business concrets — pas de jargon ML pour les décideurs.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80760" y="274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80760" y="274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0" y="384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217920" y="621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Plotly interactif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17920" y="987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0" y="1078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Graphiques dynamiques : zoom, filtres, comparaison multi-variables en temps réel. L'exploration reste ouverte.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108960" y="2560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108960" y="2560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46120" y="2670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246120" y="2907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Impacts mesurables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246120" y="3273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46120" y="3364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Meilleure anticipation des prix, réduction des erreurs d'estimation, automatisation de l'analyse récurrente.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080760" y="2560320"/>
            <a:ext cx="2834640" cy="205740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080760" y="2560320"/>
            <a:ext cx="2834640" cy="3657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17920" y="2670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6"/>
                </a:solidFill>
              </a:rPr>
              <a:t>04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217920" y="2907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D6F6"/>
                </a:solidFill>
              </a:rPr>
              <a:t>Livrables publiés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17920" y="3273552"/>
            <a:ext cx="2468880" cy="0"/>
          </a:xfrm>
          <a:prstGeom prst="line">
            <a:avLst/>
          </a:prstGeom>
          <a:noFill/>
          <a:ln w="6350">
            <a:solidFill>
              <a:srgbClr val="2A2E4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17920" y="33649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B0"/>
                </a:solidFill>
              </a:rPr>
              <a:t>PDF Typst + HTML Observable JS + scripts Python + logs — tout généré et publié automatiquement en GitHub Release.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qu'on a construit.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B0"/>
                </a:solidFill>
              </a:rPr>
              <a:t>Un pipeline Data Science complet, testé, documenté et livré.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1016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1389888" cy="292608"/>
          </a:xfrm>
          <a:prstGeom prst="roundRect">
            <a:avLst>
              <a:gd name="adj" fmla="val 18750"/>
            </a:avLst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6F6"/>
                </a:solidFill>
              </a:rPr>
              <a:t>Python 3.12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20240" y="1600200"/>
            <a:ext cx="1389888" cy="292608"/>
          </a:xfrm>
          <a:prstGeom prst="roundRect">
            <a:avLst>
              <a:gd name="adj" fmla="val 18750"/>
            </a:avLst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60020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6F6"/>
                </a:solidFill>
              </a:rPr>
              <a:t>Pandas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1389888" cy="292608"/>
          </a:xfrm>
          <a:prstGeom prst="roundRect">
            <a:avLst>
              <a:gd name="adj" fmla="val 18750"/>
            </a:avLst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60020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6F6"/>
                </a:solidFill>
              </a:rPr>
              <a:t>NumPy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600200"/>
            <a:ext cx="1389888" cy="292608"/>
          </a:xfrm>
          <a:prstGeom prst="roundRect">
            <a:avLst>
              <a:gd name="adj" fmla="val 18750"/>
            </a:avLst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0020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6F6"/>
                </a:solidFill>
              </a:rPr>
              <a:t>Scikit-learn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1600200"/>
            <a:ext cx="1389888" cy="292608"/>
          </a:xfrm>
          <a:prstGeom prst="roundRect">
            <a:avLst>
              <a:gd name="adj" fmla="val 18750"/>
            </a:avLst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60020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6F6"/>
                </a:solidFill>
              </a:rPr>
              <a:t>TensorFlow · Keras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772400" y="1600200"/>
            <a:ext cx="1389888" cy="292608"/>
          </a:xfrm>
          <a:prstGeom prst="roundRect">
            <a:avLst>
              <a:gd name="adj" fmla="val 18750"/>
            </a:avLst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160020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6F6"/>
                </a:solidFill>
              </a:rPr>
              <a:t>Matplotlib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011680"/>
            <a:ext cx="1389888" cy="292608"/>
          </a:xfrm>
          <a:prstGeom prst="roundRect">
            <a:avLst>
              <a:gd name="adj" fmla="val 18750"/>
            </a:avLst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1168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6F6"/>
                </a:solidFill>
              </a:rPr>
              <a:t>Seaborn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920240" y="2011680"/>
            <a:ext cx="1389888" cy="292608"/>
          </a:xfrm>
          <a:prstGeom prst="roundRect">
            <a:avLst>
              <a:gd name="adj" fmla="val 18750"/>
            </a:avLst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0240" y="201168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6F6"/>
                </a:solidFill>
              </a:rPr>
              <a:t>Plotly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83280" y="2011680"/>
            <a:ext cx="1389888" cy="292608"/>
          </a:xfrm>
          <a:prstGeom prst="roundRect">
            <a:avLst>
              <a:gd name="adj" fmla="val 18750"/>
            </a:avLst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01168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6F6"/>
                </a:solidFill>
              </a:rPr>
              <a:t>Quarto CLI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2011680"/>
            <a:ext cx="1389888" cy="292608"/>
          </a:xfrm>
          <a:prstGeom prst="roundRect">
            <a:avLst>
              <a:gd name="adj" fmla="val 18750"/>
            </a:avLst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01168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6F6"/>
                </a:solidFill>
              </a:rPr>
              <a:t>Typst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09360" y="2011680"/>
            <a:ext cx="1389888" cy="292608"/>
          </a:xfrm>
          <a:prstGeom prst="roundRect">
            <a:avLst>
              <a:gd name="adj" fmla="val 18750"/>
            </a:avLst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01168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6F6"/>
                </a:solidFill>
              </a:rPr>
              <a:t>Go-Task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772400" y="2011680"/>
            <a:ext cx="1389888" cy="292608"/>
          </a:xfrm>
          <a:prstGeom prst="roundRect">
            <a:avLst>
              <a:gd name="adj" fmla="val 18750"/>
            </a:avLst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201168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6F6"/>
                </a:solidFill>
              </a:rPr>
              <a:t>GitHub Actions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2651760"/>
            <a:ext cx="2029968" cy="210312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2651760"/>
            <a:ext cx="2029968" cy="36576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788920"/>
            <a:ext cx="475488" cy="47548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457200" y="333756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Rapport PDF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94360" y="3703320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2B0"/>
                </a:solidFill>
              </a:rPr>
              <a:t>Typst — mise en page haute qualité, auto-compilé.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2633472" y="2651760"/>
            <a:ext cx="2029968" cy="210312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633472" y="2651760"/>
            <a:ext cx="2029968" cy="36576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2788920"/>
            <a:ext cx="475488" cy="475488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2633472" y="333756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Rapport HTML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2770632" y="3703320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2B0"/>
                </a:solidFill>
              </a:rPr>
              <a:t>Observable JS — exploration interactive des résultats.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4809744" y="2651760"/>
            <a:ext cx="2029968" cy="210312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809744" y="2651760"/>
            <a:ext cx="2029968" cy="36576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788920"/>
            <a:ext cx="475488" cy="475488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4809744" y="333756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Scripts + logs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4946904" y="3703320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2B0"/>
                </a:solidFill>
              </a:rPr>
              <a:t>Sources Python extraites + journaux d'exécution.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6986016" y="2651760"/>
            <a:ext cx="2029968" cy="2103120"/>
          </a:xfrm>
          <a:prstGeom prst="rect">
            <a:avLst/>
          </a:prstGeom>
          <a:solidFill>
            <a:srgbClr val="1A1D27"/>
          </a:solidFill>
          <a:ln w="6350">
            <a:solidFill>
              <a:srgbClr val="2A2E42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6986016" y="2651760"/>
            <a:ext cx="2029968" cy="36576"/>
          </a:xfrm>
          <a:prstGeom prst="rect">
            <a:avLst/>
          </a:prstGeom>
          <a:solidFill>
            <a:srgbClr val="7C83FD"/>
          </a:solidFill>
          <a:ln w="12700">
            <a:solidFill>
              <a:srgbClr val="7C83FD"/>
            </a:solidFill>
            <a:prstDash val="solid"/>
          </a:ln>
        </p:spPr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2788920"/>
            <a:ext cx="475488" cy="475488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6986016" y="333756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GitHub Release</a:t>
            </a:r>
            <a:endParaRPr lang="en-US" sz="1100" dirty="0"/>
          </a:p>
        </p:txBody>
      </p:sp>
      <p:sp>
        <p:nvSpPr>
          <p:cNvPr id="48" name="Text 42"/>
          <p:cNvSpPr/>
          <p:nvPr/>
        </p:nvSpPr>
        <p:spPr>
          <a:xfrm>
            <a:off x="7123176" y="3703320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2B0"/>
                </a:solidFill>
              </a:rPr>
              <a:t>Tout publié automatiquement à chaque push CI.</a:t>
            </a:r>
            <a:endParaRPr lang="en-US" sz="950" dirty="0"/>
          </a:p>
        </p:txBody>
      </p:sp>
      <p:sp>
        <p:nvSpPr>
          <p:cNvPr id="49" name="Text 43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A2E42"/>
                </a:solidFill>
              </a:rPr>
              <a:t>Pipeline complet · 7 étapes · CI/CD automatisé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Pipeline — Real Estate Prediction</dc:title>
  <dc:subject>PptxGenJS Presentation</dc:subject>
  <dc:creator>PptxGenJS</dc:creator>
  <cp:lastModifiedBy>PptxGenJS</cp:lastModifiedBy>
  <cp:revision>1</cp:revision>
  <dcterms:created xsi:type="dcterms:W3CDTF">2026-05-30T10:33:49Z</dcterms:created>
  <dcterms:modified xsi:type="dcterms:W3CDTF">2026-05-30T10:33:49Z</dcterms:modified>
</cp:coreProperties>
</file>